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411480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EXPERIMENTAL ECONOMICS &amp;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Simulating Market Intelligence</a:t>
            </a:r>
          </a:p>
          <a:p>
            <a:pPr>
              <a:spcBef>
                <a:spcPts val="1000"/>
              </a:spcBef>
              <a:defRPr sz="2100">
                <a:solidFill>
                  <a:srgbClr val="C084FC"/>
                </a:solidFill>
              </a:defRPr>
            </a:pPr>
            <a:r>
              <a:t>Vernon Smith &amp; Gode-Sunder Double Auctions: ZI-C vs. TypeSafe Jev</a:t>
            </a:r>
          </a:p>
          <a:p>
            <a:pPr>
              <a:spcBef>
                <a:spcPts val="1800"/>
              </a:spcBef>
              <a:defRPr sz="1400">
                <a:solidFill>
                  <a:srgbClr val="94A3B8"/>
                </a:solidFill>
              </a:defRPr>
            </a:pPr>
            <a:r>
              <a:t>Comparing canonical Zero-Intelligence heuristics with autonomous 'Inside-Out' LLM reasoning in continuous double auction microstructure.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ADE80"/>
                </a:solidFill>
              </a:defRPr>
            </a:pPr>
            <a:r>
              <a:t>CORE RESEARCH INSIGHT: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ZI-C agents stumble onto equilibrium fast via brute-force variance. Jev AI agents compress spreads &amp; variance dramatically, creating realistic, calm order books with deliberate price discovery.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TYPESAFE AI • AGENT-BASED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What is Jev? The 'Inside-Out' LLM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BBF24"/>
                </a:solidFill>
              </a:defRPr>
            </a:pPr>
            <a:r>
              <a:t>Standard Generative LLMs (Outside-In)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Sequential Next-Token Sampling: </a:t>
            </a:r>
            <a:r>
              <a:rPr sz="1200">
                <a:solidFill>
                  <a:srgbClr val="94A3B8"/>
                </a:solidFill>
              </a:rPr>
              <a:t>Predicts P(token_t+1 | tokens_1..t) word-by-word in an autoregressive decoding loop.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Text-First Generation: </a:t>
            </a:r>
            <a:r>
              <a:rPr sz="1200">
                <a:solidFill>
                  <a:srgbClr val="94A3B8"/>
                </a:solidFill>
              </a:rPr>
              <a:t>Outputs unstructured text ('I bid $54.20 because...') that software must parse with regex or JSON extractors.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Nondeterministic &amp; Fragile: </a:t>
            </a:r>
            <a:r>
              <a:rPr sz="1200">
                <a:solidFill>
                  <a:srgbClr val="94A3B8"/>
                </a:solidFill>
              </a:rPr>
              <a:t>Small prompt variations or temperature swings break schemas and drift off criteria.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High Latency &amp; Token Overhead: </a:t>
            </a:r>
            <a:r>
              <a:rPr sz="1200">
                <a:solidFill>
                  <a:srgbClr val="94A3B8"/>
                </a:solidFill>
              </a:rPr>
              <a:t>Generates verbose reasoning tokens for simple decisions. Unusable in high-frequency simulation loops.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00200"/>
            <a:ext cx="512064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TypeSafe Jev System One (Inside-Out)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Direct Semantic Probability: </a:t>
            </a:r>
            <a:r>
              <a:rPr sz="1200">
                <a:solidFill>
                  <a:srgbClr val="94A3B8"/>
                </a:solidFill>
              </a:rPr>
              <a:t>Instead of generating words given a prompt, Jev evaluates the probability of complete sentences/criteria relative to the prompt.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Typed Evaluative Primitives: </a:t>
            </a:r>
            <a:r>
              <a:rPr sz="1200">
                <a:solidFill>
                  <a:srgbClr val="94A3B8"/>
                </a:solidFill>
              </a:rPr>
              <a:t>Returns structured probabilities and continuous Score scalars [0.0 - 4.0] directly. Zero JSON parsing.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Deterministic &amp; Calibrated: </a:t>
            </a:r>
            <a:r>
              <a:rPr sz="1200">
                <a:solidFill>
                  <a:srgbClr val="94A3B8"/>
                </a:solidFill>
              </a:rPr>
              <a:t>Ranks candidate criteria simultaneously in a single, high-throughput forward pass.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Micro-Tick Speed &amp; Cost: </a:t>
            </a:r>
            <a:r>
              <a:rPr sz="1200">
                <a:solidFill>
                  <a:srgbClr val="94A3B8"/>
                </a:solidFill>
              </a:rPr>
              <a:t>Evaluates state in milliseconds for $0.042/Mtok (~$0.000004/call). Programmable common sense built for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TYPESAFE AI • AGENT-BASED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Architecture Comparison: ZI-C vs. Jev Trader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377440" cy="749808"/>
          </a:xfrm>
          <a:prstGeom prst="roundRect">
            <a:avLst/>
          </a:prstGeom>
          <a:solidFill>
            <a:srgbClr val="28354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Dimension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554480"/>
            <a:ext cx="3931920" cy="749808"/>
          </a:xfrm>
          <a:prstGeom prst="roundRect">
            <a:avLst/>
          </a:prstGeom>
          <a:solidFill>
            <a:srgbClr val="28354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BBF24"/>
                </a:solidFill>
              </a:defRPr>
            </a:pPr>
            <a:r>
              <a:t>🎲 ZI-C (Canonical Benchmark)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554480"/>
            <a:ext cx="4023360" cy="749808"/>
          </a:xfrm>
          <a:prstGeom prst="roundRect">
            <a:avLst/>
          </a:prstGeom>
          <a:solidFill>
            <a:srgbClr val="28354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4ADE80"/>
                </a:solidFill>
              </a:defRPr>
            </a:pPr>
            <a:r>
              <a:t>⚡ TypeSafe Jev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39"/>
            <a:ext cx="237744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8FAFC"/>
                </a:solidFill>
              </a:defRPr>
            </a:pPr>
            <a:r>
              <a:t>Market Observation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377439"/>
            <a:ext cx="393192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sz="1100">
                <a:solidFill>
                  <a:srgbClr val="94A3B8"/>
                </a:solidFill>
              </a:defRPr>
            </a:pPr>
            <a:r>
              <a:t>Blind to order book. Only knows private valuation/cost.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377439"/>
            <a:ext cx="402336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sz="1100">
                <a:solidFill>
                  <a:srgbClr val="F8FAFC"/>
                </a:solidFill>
              </a:defRPr>
            </a:pPr>
            <a:r>
              <a:t>Observes top-of-book (best bid, best ask), spread, and last trade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399"/>
            <a:ext cx="237744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8FAFC"/>
                </a:solidFill>
              </a:defRPr>
            </a:pPr>
            <a:r>
              <a:t>Decision Brain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200399"/>
            <a:ext cx="393192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sz="1100">
                <a:solidFill>
                  <a:srgbClr val="94A3B8"/>
                </a:solidFill>
              </a:defRPr>
            </a:pPr>
            <a:r>
              <a:t>No memory, no reasoning. Pseudo-random uniform draw U[0, V].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200399"/>
            <a:ext cx="402336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sz="1100">
                <a:solidFill>
                  <a:srgbClr val="F8FAFC"/>
                </a:solidFill>
              </a:defRPr>
            </a:pPr>
            <a:r>
              <a:t>TypeSafe System One Score evaluating tactical aggressiveness against 5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59"/>
            <a:ext cx="237744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8FAFC"/>
                </a:solidFill>
              </a:defRPr>
            </a:pPr>
            <a:r>
              <a:t>Quote Bounds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023359"/>
            <a:ext cx="393192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sz="1100">
                <a:solidFill>
                  <a:srgbClr val="94A3B8"/>
                </a:solidFill>
              </a:defRPr>
            </a:pPr>
            <a:r>
              <a:t>Scattered anywhere between 0 and private valuation.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023359"/>
            <a:ext cx="402336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sz="1100">
                <a:solidFill>
                  <a:srgbClr val="F8FAFC"/>
                </a:solidFill>
              </a:defRPr>
            </a:pPr>
            <a:r>
              <a:t>Strategically centered: crosses spread, steps 1 tick, or provides passive liquidity.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19"/>
            <a:ext cx="237744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8FAFC"/>
                </a:solidFill>
              </a:defRPr>
            </a:pPr>
            <a:r>
              <a:t>Efficiency &amp;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846319"/>
            <a:ext cx="393192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sz="1100">
                <a:solidFill>
                  <a:srgbClr val="94A3B8"/>
                </a:solidFill>
              </a:defRPr>
            </a:pPr>
            <a:r>
              <a:t>0 tokens, $0.00 compute. No caching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846319"/>
            <a:ext cx="402336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sz="1100">
                <a:solidFill>
                  <a:srgbClr val="F8FAFC"/>
                </a:solidFill>
              </a:defRPr>
            </a:pPr>
            <a:r>
              <a:t>90 tokens/call ($0.042/Mtok) with sub-marginal guards &amp; delta caching (60%+ bypass).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79"/>
            <a:ext cx="237744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8FAFC"/>
                </a:solidFill>
              </a:defRPr>
            </a:pPr>
            <a:r>
              <a:t>Microstructure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5669279"/>
            <a:ext cx="393192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sz="1100">
                <a:solidFill>
                  <a:srgbClr val="94A3B8"/>
                </a:solidFill>
              </a:defRPr>
            </a:pPr>
            <a:r>
              <a:t>Noisy, erratic spreads with high price standard deviation.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5669279"/>
            <a:ext cx="4023360" cy="7498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0" sz="1100">
                <a:solidFill>
                  <a:srgbClr val="F8FAFC"/>
                </a:solidFill>
              </a:defRPr>
            </a:pPr>
            <a:r>
              <a:t>Tightly compressed spreads, minimal price variance, realistic liquidity queues.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TYPESAFE AI • AGENT-BASED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Inside the Jev Brain: Dual Market Symmetry (Buyer &amp; Seller)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🔵 Buyer Brain (Demand Side)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Private Boundary: </a:t>
            </a:r>
            <a:r>
              <a:rPr sz="1100">
                <a:solidFill>
                  <a:srgbClr val="94A3B8"/>
                </a:solidFill>
              </a:rPr>
              <a:t>Valuation (V). Budget condition: Bid &lt;= V.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Sub-Marginal Guard: </a:t>
            </a:r>
            <a:r>
              <a:rPr sz="1100">
                <a:solidFill>
                  <a:srgbClr val="94A3B8"/>
                </a:solidFill>
              </a:rPr>
              <a:t>If V &lt;= Best Bid, positive surplus is impossible. Bypasses AI to save tokens and quotes defensive shaded bid.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Cognitive Prompt: </a:t>
            </a:r>
            <a:r>
              <a:rPr sz="1100">
                <a:solidFill>
                  <a:srgbClr val="94A3B8"/>
                </a:solidFill>
              </a:rPr>
              <a:t>'How aggressively should this buyer bid relative to valuation and order book depth?'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Score Criteria: </a:t>
            </a:r>
            <a:r>
              <a:rPr sz="1100">
                <a:solidFill>
                  <a:srgbClr val="94A3B8"/>
                </a:solidFill>
              </a:rPr>
              <a:t>Deep Discount (0-1) | Patient Maker (1-2) | Queue Competitor (2-3) | Spread Crosser (3-4) | Urgent Taker (4.0).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Microstructure Action: </a:t>
            </a:r>
            <a:r>
              <a:rPr sz="1100">
                <a:solidFill>
                  <a:srgbClr val="94A3B8"/>
                </a:solidFill>
              </a:rPr>
              <a:t>Score &gt;= 3.0: matches Best Ask (takes liquidity).
Score &gt;= 2.0: bids Best Bid + 1 tick (leads queue).
Score &lt; 2.0: quotes inside spread to make liquidity.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0020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84FC"/>
                </a:solidFill>
              </a:defRPr>
            </a:pPr>
            <a:r>
              <a:t>🟣 Seller Brain (Supply Side)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Private Boundary: </a:t>
            </a:r>
            <a:r>
              <a:rPr sz="1100">
                <a:solidFill>
                  <a:srgbClr val="94A3B8"/>
                </a:solidFill>
              </a:rPr>
              <a:t>Unit Cost (C). Budget condition: Ask &gt;= C.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Sub-Marginal Guard: </a:t>
            </a:r>
            <a:r>
              <a:rPr sz="1100">
                <a:solidFill>
                  <a:srgbClr val="94A3B8"/>
                </a:solidFill>
              </a:rPr>
              <a:t>If C &gt;= Best Ask, positive surplus is impossible. Bypasses AI to save tokens and quotes defensive marked-up ask.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Cognitive Prompt: </a:t>
            </a:r>
            <a:r>
              <a:rPr sz="1100">
                <a:solidFill>
                  <a:srgbClr val="94A3B8"/>
                </a:solidFill>
              </a:rPr>
              <a:t>'How aggressively should this seller ask relative to cost and order book depth?'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Score Criteria: </a:t>
            </a:r>
            <a:r>
              <a:rPr sz="1100">
                <a:solidFill>
                  <a:srgbClr val="94A3B8"/>
                </a:solidFill>
              </a:rPr>
              <a:t>Deep Markup (0-1) | Patient Maker (1-2) | Queue Competitor (2-3) | Spread Crosser (3-4) | Urgent Taker (4.0).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FAFC"/>
                </a:solidFill>
              </a:rPr>
              <a:t>Microstructure Action: </a:t>
            </a:r>
            <a:r>
              <a:rPr sz="1100">
                <a:solidFill>
                  <a:srgbClr val="94A3B8"/>
                </a:solidFill>
              </a:rPr>
              <a:t>Score &gt;= 3.0: matches Best Bid (takes liquidity).
Score &gt;= 2.0: asks Best Ask - 1 tick (leads queue).
Score &lt; 2.0: quotes inside spread to make liquidity.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TYPESAFE AI • AGENT-BASED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The Code Driving the Brain: TypeSafe Jev System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713232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94A3B8"/>
                </a:solidFill>
                <a:latin typeface="Consolas"/>
              </a:defRPr>
            </a:pPr>
            <a:r>
              <a:t># 1. Zero-Token Pre-Filter Guard &amp; Book Delta Cache</a:t>
            </a:r>
          </a:p>
          <a:p>
            <a:pPr>
              <a:spcBef>
                <a:spcPts val="100"/>
              </a:spcBef>
              <a:defRPr sz="950">
                <a:solidFill>
                  <a:srgbClr val="38BDF8"/>
                </a:solidFill>
                <a:latin typeface="Consolas"/>
              </a:defRPr>
            </a:pPr>
            <a:r>
              <a:t>if best_bid is not None and self.private_value &lt;= best_bid: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    return max(0.0, self.private_value * 0.5)  # Bypass AI: save tokens</a:t>
            </a:r>
          </a:p>
          <a:p>
            <a:pPr>
              <a:spcBef>
                <a:spcPts val="100"/>
              </a:spcBef>
              <a:defRPr sz="950">
                <a:solidFill>
                  <a:srgbClr val="38BDF8"/>
                </a:solidFill>
                <a:latin typeface="Consolas"/>
              </a:defRPr>
            </a:pPr>
            <a:r>
              <a:t>if (best_bid, best_ask, last_p) == self._last_state:</a:t>
            </a: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    return self.execute_tactic(self._cached_score)  # Cache Hit: 0 tok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# 2. TypeSafe Jev System One Scoring Primitive (Inside-Out)</a:t>
            </a:r>
          </a:p>
          <a:p>
            <a:pPr>
              <a:spcBef>
                <a:spcPts val="100"/>
              </a:spcBef>
              <a:defRPr sz="950">
                <a:solidFill>
                  <a:srgbClr val="4ADE80"/>
                </a:solidFill>
                <a:latin typeface="Consolas"/>
              </a:defRPr>
            </a:pPr>
            <a:r>
              <a:t>response = client.system_one(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onsolas"/>
              </a:defRPr>
            </a:pPr>
            <a:r>
              <a:t>    state={'val': self.private_value, 'bid': best_bid, 'ask': best_ask},</a:t>
            </a:r>
          </a:p>
          <a:p>
            <a:pPr>
              <a:spcBef>
                <a:spcPts val="100"/>
              </a:spcBef>
              <a:defRPr sz="950">
                <a:solidFill>
                  <a:srgbClr val="C084FC"/>
                </a:solidFill>
                <a:latin typeface="Consolas"/>
              </a:defRPr>
            </a:pPr>
            <a:r>
              <a:t>    questions={'aggressiveness': Score(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instructions='How aggressively should this trader quote?',</a:t>
            </a:r>
          </a:p>
          <a:p>
            <a:pPr>
              <a:spcBef>
                <a:spcPts val="100"/>
              </a:spcBef>
              <a:defRPr sz="950">
                <a:solidFill>
                  <a:srgbClr val="C084FC"/>
                </a:solidFill>
                <a:latin typeface="Consolas"/>
              </a:defRPr>
            </a:pPr>
            <a:r>
              <a:t>        criteria=[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    'deep discount/markup: maximize surplus margin',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    'patient maker: quote inside spread',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    'queue competitor: top best quote by 1 tick',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onsolas"/>
              </a:defRPr>
            </a:pPr>
            <a:r>
              <a:t>            'spread crosser: match opposite best quote to take liquidity',</a:t>
            </a:r>
          </a:p>
          <a:p>
            <a:pPr>
              <a:spcBef>
                <a:spcPts val="100"/>
              </a:spcBef>
              <a:defRPr sz="950">
                <a:solidFill>
                  <a:srgbClr val="C084FC"/>
                </a:solidFill>
                <a:latin typeface="Consolas"/>
              </a:defRPr>
            </a:pPr>
            <a:r>
              <a:t>        ],</a:t>
            </a:r>
          </a:p>
          <a:p>
            <a:pPr>
              <a:spcBef>
                <a:spcPts val="100"/>
              </a:spcBef>
              <a:defRPr sz="950">
                <a:solidFill>
                  <a:srgbClr val="C084FC"/>
                </a:solidFill>
                <a:latin typeface="Consolas"/>
              </a:defRPr>
            </a:pPr>
            <a:r>
              <a:t>    )},</a:t>
            </a:r>
          </a:p>
          <a:p>
            <a:pPr>
              <a:spcBef>
                <a:spcPts val="100"/>
              </a:spcBef>
              <a:defRPr sz="950">
                <a:solidFill>
                  <a:srgbClr val="4ADE80"/>
                </a:solidFill>
                <a:latin typeface="Consolas"/>
              </a:defRPr>
            </a:pPr>
            <a:r>
              <a:t>    model='jev-latest'</a:t>
            </a:r>
          </a:p>
          <a:p>
            <a:pPr>
              <a:spcBef>
                <a:spcPts val="100"/>
              </a:spcBef>
              <a:defRPr sz="950">
                <a:solidFill>
                  <a:srgbClr val="4ADE8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100"/>
              </a:spcBef>
              <a:defRPr sz="950">
                <a:solidFill>
                  <a:srgbClr val="38BDF8"/>
                </a:solidFill>
                <a:latin typeface="Consolas"/>
              </a:defRPr>
            </a:pPr>
            <a:r>
              <a:t>score = response.scores['aggressiveness'].score  # Continuous [0.0 - 4.0]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50">
                <a:solidFill>
                  <a:srgbClr val="94A3B8"/>
                </a:solidFill>
                <a:latin typeface="Consolas"/>
              </a:defRPr>
            </a:pPr>
            <a:r>
              <a:t># 3. Market Action Execution (Buyer Example)</a:t>
            </a:r>
          </a:p>
          <a:p>
            <a:pPr>
              <a:spcBef>
                <a:spcPts val="100"/>
              </a:spcBef>
              <a:defRPr sz="950">
                <a:solidFill>
                  <a:srgbClr val="FBBF24"/>
                </a:solidFill>
                <a:latin typeface="Consolas"/>
              </a:defRPr>
            </a:pPr>
            <a:r>
              <a:t>if score &gt;= 3.0: return best_ask            # Spread Crosser (Take)</a:t>
            </a:r>
          </a:p>
          <a:p>
            <a:pPr>
              <a:spcBef>
                <a:spcPts val="100"/>
              </a:spcBef>
              <a:defRPr sz="950">
                <a:solidFill>
                  <a:srgbClr val="38BDF8"/>
                </a:solidFill>
                <a:latin typeface="Consolas"/>
              </a:defRPr>
            </a:pPr>
            <a:r>
              <a:t>elif score &gt;= 2.0: return best_bid + 1.0     # Queue Leader (+1 Tick)</a:t>
            </a:r>
          </a:p>
          <a:p>
            <a:pPr>
              <a:spcBef>
                <a:spcPts val="100"/>
              </a:spcBef>
              <a:defRPr sz="950">
                <a:solidFill>
                  <a:srgbClr val="4ADE80"/>
                </a:solidFill>
                <a:latin typeface="Consolas"/>
              </a:defRPr>
            </a:pPr>
            <a:r>
              <a:t>else: return self.private_value * (0.4 + score * 0.1) # Passive Maker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60020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ADE80"/>
                </a:solidFill>
              </a:defRPr>
            </a:pPr>
            <a:r>
              <a:t>Why This Code Design Works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No Parsing Pipeline: </a:t>
            </a:r>
            <a:r>
              <a:rPr sz="1100">
                <a:solidFill>
                  <a:srgbClr val="94A3B8"/>
                </a:solidFill>
              </a:rPr>
              <a:t>Returns a native float score directly. No JSON decoding, regex matching, or schema retry loops.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Zero-Token Gating: </a:t>
            </a:r>
            <a:r>
              <a:rPr sz="1100">
                <a:solidFill>
                  <a:srgbClr val="94A3B8"/>
                </a:solidFill>
              </a:rPr>
              <a:t>Sub-marginal guards &amp; shared delta-caches bypass 60%+ of calls, keeping runs fast and free.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Micro-Tick Viability: </a:t>
            </a:r>
            <a:r>
              <a:rPr sz="1100">
                <a:solidFill>
                  <a:srgbClr val="94A3B8"/>
                </a:solidFill>
              </a:rPr>
              <a:t>Standard LLM agents take 2-5s per decision. Jev completes in ~40ms, making ABMs practical.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8FAFC"/>
                </a:solidFill>
              </a:rPr>
              <a:t>Predictable Microstructure: </a:t>
            </a:r>
            <a:r>
              <a:rPr sz="1100">
                <a:solidFill>
                  <a:srgbClr val="94A3B8"/>
                </a:solidFill>
              </a:rPr>
              <a:t>Agents behave with human-like strategic restraint without hallucinations.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TYPESAFE AI • AGENT-BASED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Translating Jev Score [0.0 - 4.0] into Market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C084FC"/>
                </a:solidFill>
              </a:rPr>
              <a:t>Score 3.0 - 4.0 (alpha &gt;= 0.75)  •  </a:t>
            </a:r>
            <a:r>
              <a:rPr b="1" sz="1300">
                <a:solidFill>
                  <a:srgbClr val="F8FAFC"/>
                </a:solidFill>
              </a:rPr>
              <a:t>Spread Crosser / Urgent Taker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Buyer: Matches best ask to instantly cross the spread and take liquidity.</a:t>
            </a:r>
            <a:br/>
            <a:r>
              <a:t>Seller: Matches best bid to immediately hit the bid and liquidate inventory.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70632"/>
            <a:ext cx="106984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38BDF8"/>
                </a:solidFill>
              </a:rPr>
              <a:t>Score 2.0 - 3.0 (alpha &gt;= 0.50)  •  </a:t>
            </a:r>
            <a:r>
              <a:rPr b="1" sz="1300">
                <a:solidFill>
                  <a:srgbClr val="F8FAFC"/>
                </a:solidFill>
              </a:rPr>
              <a:t>Queue Competitor / Price Improver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Buyer: Bids best bid + 1 tick ($0.50-$1.50) to step to the head of the queue.</a:t>
            </a:r>
            <a:br/>
            <a:r>
              <a:t>Seller: Asks best ask - 1 tick ($0.50-$1.50) to gain execution priority at top of 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41064"/>
            <a:ext cx="106984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4ADE80"/>
                </a:solidFill>
              </a:rPr>
              <a:t>Score 1.0 - 2.0 (alpha &gt;= 0.25)  •  </a:t>
            </a:r>
            <a:r>
              <a:rPr b="1" sz="1300">
                <a:solidFill>
                  <a:srgbClr val="F8FAFC"/>
                </a:solidFill>
              </a:rPr>
              <a:t>Patient Maker / Inside Spread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Buyer: Quotes inside spread below best bid, providing passive buyer liquidity.</a:t>
            </a:r>
            <a:br/>
            <a:r>
              <a:t>Seller: Quotes inside spread above best ask, providing passive seller liquidity.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11496"/>
            <a:ext cx="10698480" cy="10789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BBF24"/>
                </a:solidFill>
              </a:rPr>
              <a:t>Score 0.0 - 1.0 (alpha &lt; 0.25)  •  </a:t>
            </a:r>
            <a:r>
              <a:rPr b="1" sz="1300">
                <a:solidFill>
                  <a:srgbClr val="F8FAFC"/>
                </a:solidFill>
              </a:rPr>
              <a:t>Deep Discount &amp; Markup / Margin Guard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Buyer: Submits low-ball bid to capture extreme surplus or protect sub-marginal valuation.</a:t>
            </a:r>
            <a:br/>
            <a:r>
              <a:t>Seller: Submits high markup ask to capture wide profit margin.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TYPESAFE AI • AGENT-BASED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Empirical Results: The Microstructure Trade-Off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379476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🎲 ZI-C: Fast Convergence, Wild Dispersion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Rapid Clearing Discovery: </a:t>
            </a:r>
            <a:r>
              <a:rPr sz="1200">
                <a:solidFill>
                  <a:srgbClr val="94A3B8"/>
                </a:solidFill>
              </a:rPr>
              <a:t>Quotes are uniformly scattered across the full [0, V] interval, spanning the entire price space quickly.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High Price Variance: </a:t>
            </a:r>
            <a:r>
              <a:rPr sz="1200">
                <a:solidFill>
                  <a:srgbClr val="94A3B8"/>
                </a:solidFill>
              </a:rPr>
              <a:t>Consecutive trade prices swing violently across the board as random draws meet.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Wide &amp; Erratic Spreads: </a:t>
            </a:r>
            <a:r>
              <a:rPr sz="1200">
                <a:solidFill>
                  <a:srgbClr val="94A3B8"/>
                </a:solidFill>
              </a:rPr>
              <a:t>Order book depth is accidental, resulting in wide and unstable bid-ask spreads.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00200"/>
            <a:ext cx="5120640" cy="379476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⚡ Jev AI: Tight Spreads, Deliberate Discovery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Tightly Compressed Spreads: </a:t>
            </a:r>
            <a:r>
              <a:rPr sz="1200">
                <a:solidFill>
                  <a:srgbClr val="94A3B8"/>
                </a:solidFill>
              </a:rPr>
              <a:t>Agents compete on 1-tick price improvements and cross the spread only when valuation warrants.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Low Standard Deviation: </a:t>
            </a:r>
            <a:r>
              <a:rPr sz="1200">
                <a:solidFill>
                  <a:srgbClr val="94A3B8"/>
                </a:solidFill>
              </a:rPr>
              <a:t>Trade prices cluster smoothly with realistic microstructural queue depth.</a:t>
            </a:r>
          </a:p>
          <a:p>
            <a:pPr>
              <a:spcBef>
                <a:spcPts val="1200"/>
              </a:spcBef>
            </a:pPr>
            <a:r>
              <a:rPr b="1" sz="1200">
                <a:solidFill>
                  <a:srgbClr val="F8FAFC"/>
                </a:solidFill>
              </a:rPr>
              <a:t>• Slower Equilibrium Convergence: </a:t>
            </a:r>
            <a:r>
              <a:rPr sz="1200">
                <a:solidFill>
                  <a:srgbClr val="94A3B8"/>
                </a:solidFill>
              </a:rPr>
              <a:t>Price discovery moves incrementally because quotes stay grouped together rather than jumping across the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THE TAKEAWAY: Market institutions (double auction) guarantee equilibrium clearing, but agent cognition dictates the microstructure stability, spread width, and price variance along the 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